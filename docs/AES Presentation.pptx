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70" r:id="rId9"/>
    <p:sldId id="267" r:id="rId10"/>
    <p:sldId id="262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60"/>
  </p:normalViewPr>
  <p:slideViewPr>
    <p:cSldViewPr snapToGrid="0">
      <p:cViewPr>
        <p:scale>
          <a:sx n="80" d="100"/>
          <a:sy n="80" d="100"/>
        </p:scale>
        <p:origin x="936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DC9A8-EAA6-4B6B-850A-E633642A0D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2927EA-13D1-4C1C-B914-5914B08BB8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FA327-9BA6-4CB6-8D79-ADC65DD09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40C5-708E-4C5F-9CB2-9707C1B4B5E8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163CC-9612-4EF8-9486-FAE233457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93F26-8B59-4EEB-B105-C55ED47F4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5F9B2-8134-4646-BE15-5BBB68255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840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5D00F-EDD8-4D45-A18C-BCF076D93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7FFB5-0D7A-44BF-8866-5BEDBEA07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7B88C-8E08-4ADD-A282-D40089336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40C5-708E-4C5F-9CB2-9707C1B4B5E8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07DFD-24C6-43DC-898B-831A48B51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B3464-22EB-40F8-961F-534922C84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5F9B2-8134-4646-BE15-5BBB68255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720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5FAE2-E8A7-48E9-99DB-EEB60BBEF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DDB020-6F0C-4498-8C60-CD688A637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895AC-017A-4782-B2D4-26F6197D0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40C5-708E-4C5F-9CB2-9707C1B4B5E8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74487-7DF9-4F02-8E80-5B32AA324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4B8B-1284-4AD9-A135-E0EC48190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5F9B2-8134-4646-BE15-5BBB68255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025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60317-B8D9-4258-B108-57BA00B21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C91A3-6658-48E3-9662-43E107D0F1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92A043-1B08-493B-A341-BBADEF16D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C22B4E-0337-4C24-A8CA-2C6B48F70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40C5-708E-4C5F-9CB2-9707C1B4B5E8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9EACA-0494-4579-B54C-F9DE2559C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55D99-E2EB-4A7A-80D7-0ECEED04D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5F9B2-8134-4646-BE15-5BBB68255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356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EFF42-5032-4457-9F3D-24A8898B4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C62B28-242D-4198-8F56-8685CC740F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54BFD7-4D04-4418-9390-6B28CCE83F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07215E-DFE0-4203-A6A5-28DE40FEE8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CE4D6E-782C-425B-A6B7-EAF1FF0927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450A8E-CDBC-4D1A-847A-23292588E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40C5-708E-4C5F-9CB2-9707C1B4B5E8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354598-5DDD-4A34-AE6F-76191BABD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4EA25B-1F9F-48F7-AEB5-417FD18E3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5F9B2-8134-4646-BE15-5BBB68255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401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CEB7E-35CF-454B-BFE6-8B57F8570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CFF493-9186-4653-AD4A-96C2F33EB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40C5-708E-4C5F-9CB2-9707C1B4B5E8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8ADAC0-0BC9-44D2-A42B-4D984F8AD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419307-6BD4-4B1B-A8AB-2DF8C602C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5F9B2-8134-4646-BE15-5BBB68255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604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80F1C2-8E97-4C7F-A005-07AFADECB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40C5-708E-4C5F-9CB2-9707C1B4B5E8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11E6E1-E1E1-4C0A-A95C-793FE25D8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A8C5CC-B10A-4E34-B932-B38D8AF92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5F9B2-8134-4646-BE15-5BBB68255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70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8512E-B0A4-4FD0-9E88-5317F188E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2B15A-F071-443B-8B74-299D8CBEB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A3A626-ADA2-4195-8D64-3F426C82FE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2B0C49-460A-4CF0-A961-C49EEE221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40C5-708E-4C5F-9CB2-9707C1B4B5E8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215EAA-046E-43C7-9B3D-4435785CB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CEFD80-36B8-4B00-9628-86033A372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5F9B2-8134-4646-BE15-5BBB68255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510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ED1F6-B453-4541-A150-303EF88E4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316384-662C-49BF-9963-288AE8B683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2B1502-FED6-4E9D-A8D7-54D72887E9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08378C-2BFA-409B-9A7C-C37E8CF4A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40C5-708E-4C5F-9CB2-9707C1B4B5E8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375C12-3F9B-41CE-90BE-EB59F3D80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3A9550-AE85-480D-85B6-76682326C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5F9B2-8134-4646-BE15-5BBB68255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971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6E003-D43B-463E-BCC1-1166F2532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7B5EB1-64FA-4E13-BC82-0E91DDC78D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428E7-2BD3-449F-B936-29A18B5D5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40C5-708E-4C5F-9CB2-9707C1B4B5E8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5BA87-5533-4348-8DE1-8839D3D82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B76F0-641E-4672-9E32-B22A947CA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5F9B2-8134-4646-BE15-5BBB68255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214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65D0FC-7DCD-4D17-B3B9-47DBD23671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C37D93-9F1A-4A0C-B1F7-4044FE3AE6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9A80F-1A71-417F-93C1-9571A21DB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F40C5-708E-4C5F-9CB2-9707C1B4B5E8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2A348-32A9-4E05-B8B3-EF925EC6E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3DB3D-3F83-41D8-AA1B-5D6D778C5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5F9B2-8134-4646-BE15-5BBB68255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9515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FED3B6-4459-4D6F-9018-39C324127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4E3D1-897E-4838-8AD0-E049F4420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ABB33-9B78-4702-BFA4-7382A73487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6F40C5-708E-4C5F-9CB2-9707C1B4B5E8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7450F-7265-4ED1-8699-901B34B732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2E687-B90C-4829-BBEF-1229C5C862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15F9B2-8134-4646-BE15-5BBB68255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774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6CB8217-F56D-4676-BD02-A7BC2DDC4E87}"/>
              </a:ext>
            </a:extLst>
          </p:cNvPr>
          <p:cNvSpPr/>
          <p:nvPr/>
        </p:nvSpPr>
        <p:spPr>
          <a:xfrm>
            <a:off x="0" y="129008"/>
            <a:ext cx="9715500" cy="39752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DDF5FB-8EC2-46C5-8E86-82280B2E338D}"/>
              </a:ext>
            </a:extLst>
          </p:cNvPr>
          <p:cNvSpPr txBox="1"/>
          <p:nvPr/>
        </p:nvSpPr>
        <p:spPr>
          <a:xfrm>
            <a:off x="1685364" y="1174377"/>
            <a:ext cx="8821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cumin Variable Concept Black" panose="020B0304020202020204" pitchFamily="34" charset="0"/>
              </a:rPr>
              <a:t>High-Throughput AES-128 Co-Processor for Industrial IoT</a:t>
            </a:r>
            <a:endParaRPr lang="en-US" sz="2400" dirty="0">
              <a:latin typeface="Acumin Variable Concept Black" panose="020B03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88831F-0867-4A07-9290-3D42B77C1246}"/>
              </a:ext>
            </a:extLst>
          </p:cNvPr>
          <p:cNvSpPr txBox="1"/>
          <p:nvPr/>
        </p:nvSpPr>
        <p:spPr>
          <a:xfrm>
            <a:off x="3248328" y="1831308"/>
            <a:ext cx="5695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Presented By:</a:t>
            </a:r>
            <a:r>
              <a:rPr lang="en-GB" dirty="0"/>
              <a:t> Digital IC Design Team At Obour Engineering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CD169BD-F929-425F-A63C-B4FBBF36358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150" b="24534"/>
          <a:stretch/>
        </p:blipFill>
        <p:spPr>
          <a:xfrm>
            <a:off x="7838385" y="4624364"/>
            <a:ext cx="4353615" cy="223363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09A6511-C73D-4EB1-B338-9360F027C7A5}"/>
              </a:ext>
            </a:extLst>
          </p:cNvPr>
          <p:cNvSpPr/>
          <p:nvPr/>
        </p:nvSpPr>
        <p:spPr>
          <a:xfrm>
            <a:off x="0" y="224810"/>
            <a:ext cx="9610725" cy="30172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E2FF6A-2D4B-411E-A955-83F96056455A}"/>
              </a:ext>
            </a:extLst>
          </p:cNvPr>
          <p:cNvSpPr txBox="1"/>
          <p:nvPr/>
        </p:nvSpPr>
        <p:spPr>
          <a:xfrm>
            <a:off x="733727" y="2858504"/>
            <a:ext cx="3447747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Names: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/>
              <a:t>Abdulrahman Ali Nasr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/>
              <a:t>Farah Ahmed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/>
              <a:t>Abdulrahman Mohamed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/>
              <a:t>Abanoub Sabry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/>
              <a:t>Ramadan Mohamed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/>
              <a:t>Omar Atef </a:t>
            </a:r>
          </a:p>
          <a:p>
            <a:endParaRPr lang="en-GB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b="1" dirty="0"/>
          </a:p>
          <a:p>
            <a:r>
              <a:rPr lang="en-GB" b="1" dirty="0"/>
              <a:t>Under supervision of:</a:t>
            </a:r>
          </a:p>
          <a:p>
            <a:r>
              <a:rPr lang="en-GB" sz="2000" b="1" dirty="0"/>
              <a:t>Assoc Prof. Saad El-Sayed </a:t>
            </a:r>
            <a:br>
              <a:rPr lang="en-GB" sz="2000" b="1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16170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EDDF5FB-8EC2-46C5-8E86-82280B2E338D}"/>
              </a:ext>
            </a:extLst>
          </p:cNvPr>
          <p:cNvSpPr txBox="1"/>
          <p:nvPr/>
        </p:nvSpPr>
        <p:spPr>
          <a:xfrm>
            <a:off x="277906" y="1208099"/>
            <a:ext cx="8821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cumin Variable Concept Black" panose="020B0304020202020204" pitchFamily="34" charset="0"/>
              </a:rPr>
              <a:t>The Evolution of Hardware Security</a:t>
            </a:r>
            <a:endParaRPr lang="en-US" sz="2400" dirty="0">
              <a:latin typeface="Acumin Variable Concept Black" panose="020B03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88831F-0867-4A07-9290-3D42B77C1246}"/>
              </a:ext>
            </a:extLst>
          </p:cNvPr>
          <p:cNvSpPr txBox="1"/>
          <p:nvPr/>
        </p:nvSpPr>
        <p:spPr>
          <a:xfrm>
            <a:off x="648563" y="1898750"/>
            <a:ext cx="8450614" cy="4619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Historical Overview:</a:t>
            </a:r>
          </a:p>
          <a:p>
            <a:pPr>
              <a:lnSpc>
                <a:spcPct val="150000"/>
              </a:lnSpc>
            </a:pPr>
            <a:r>
              <a:rPr lang="en-GB" dirty="0"/>
              <a:t>1970s (DES): Focus on data confidentiality (Banking/Military).</a:t>
            </a:r>
          </a:p>
          <a:p>
            <a:pPr>
              <a:lnSpc>
                <a:spcPct val="150000"/>
              </a:lnSpc>
            </a:pPr>
            <a:r>
              <a:rPr lang="en-GB" dirty="0"/>
              <a:t>2000s (AES): Focus on speed and internet security.</a:t>
            </a:r>
          </a:p>
          <a:p>
            <a:pPr>
              <a:lnSpc>
                <a:spcPct val="150000"/>
              </a:lnSpc>
            </a:pPr>
            <a:r>
              <a:rPr lang="en-GB" dirty="0"/>
              <a:t>2020s (IoT): Focus on Physical Safety and Real-Time Control.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The Paradigm Shift: The "Pager Attack" (2024):</a:t>
            </a:r>
          </a:p>
          <a:p>
            <a:pPr>
              <a:lnSpc>
                <a:spcPct val="150000"/>
              </a:lnSpc>
            </a:pPr>
            <a:r>
              <a:rPr lang="en-GB" dirty="0"/>
              <a:t>Recent events involving exploding communication devices demonstrated a Supply Chain Interdiction.</a:t>
            </a:r>
          </a:p>
          <a:p>
            <a:pPr>
              <a:lnSpc>
                <a:spcPct val="150000"/>
              </a:lnSpc>
            </a:pPr>
            <a:r>
              <a:rPr lang="en-GB" dirty="0"/>
              <a:t>The VLSI Lesson: Software encryption cannot protect against physical hardware compromise.</a:t>
            </a:r>
          </a:p>
          <a:p>
            <a:pPr>
              <a:lnSpc>
                <a:spcPct val="150000"/>
              </a:lnSpc>
            </a:pPr>
            <a:r>
              <a:rPr lang="en-GB" dirty="0"/>
              <a:t>Our Focus: This project addresses the need for Trusted Silicon—moving security from vulnerable software layers down to the immutable hardware level.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932914-AB7A-41DB-AB75-B86633CCB042}"/>
              </a:ext>
            </a:extLst>
          </p:cNvPr>
          <p:cNvSpPr/>
          <p:nvPr/>
        </p:nvSpPr>
        <p:spPr>
          <a:xfrm>
            <a:off x="0" y="129008"/>
            <a:ext cx="9715500" cy="39752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DA4905-5AE1-4779-83AF-86A8026121F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150" b="24534"/>
          <a:stretch/>
        </p:blipFill>
        <p:spPr>
          <a:xfrm>
            <a:off x="7838385" y="4624364"/>
            <a:ext cx="4353615" cy="223363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03FB6A2-2E8B-48FC-9716-C4B8FF772DBF}"/>
              </a:ext>
            </a:extLst>
          </p:cNvPr>
          <p:cNvSpPr/>
          <p:nvPr/>
        </p:nvSpPr>
        <p:spPr>
          <a:xfrm>
            <a:off x="0" y="224810"/>
            <a:ext cx="9610725" cy="30172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A07C95-0772-4934-9CC0-5E6887A9C2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8912" y="1208099"/>
            <a:ext cx="4614525" cy="2596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065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EDDF5FB-8EC2-46C5-8E86-82280B2E338D}"/>
              </a:ext>
            </a:extLst>
          </p:cNvPr>
          <p:cNvSpPr txBox="1"/>
          <p:nvPr/>
        </p:nvSpPr>
        <p:spPr>
          <a:xfrm>
            <a:off x="277906" y="1208099"/>
            <a:ext cx="8821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cumin Variable Concept Black" panose="020B0304020202020204" pitchFamily="34" charset="0"/>
              </a:rPr>
              <a:t>Algorithms &amp; Why AES-128?</a:t>
            </a:r>
            <a:endParaRPr lang="en-US" sz="2400" dirty="0">
              <a:latin typeface="Acumin Variable Concept Black" panose="020B03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388831F-0867-4A07-9290-3D42B77C1246}"/>
                  </a:ext>
                </a:extLst>
              </p:cNvPr>
              <p:cNvSpPr txBox="1"/>
              <p:nvPr/>
            </p:nvSpPr>
            <p:spPr>
              <a:xfrm>
                <a:off x="648563" y="1898750"/>
                <a:ext cx="8733562" cy="37888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GB" b="1" dirty="0"/>
                  <a:t>Algorithm Development: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dirty="0"/>
                  <a:t>DES (56-bit): Broken by brute force ("Deep Crack").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dirty="0"/>
                  <a:t>3DES: Secure but computationally heavy; too slow for real-time IoT.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dirty="0"/>
                  <a:t>AES (Rijndael): Selected by NIST for its efficiency in hardware.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b="1" dirty="0"/>
                  <a:t>Why AES-128 for Industrial IoT?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b="1" dirty="0"/>
                  <a:t>Security/Area Trade-off: </a:t>
                </a:r>
                <a:r>
                  <a:rPr lang="en-GB" dirty="0"/>
                  <a:t>128-bit keys offer unbreakable security (3.4 \</a:t>
                </a:r>
                <a14:m>
                  <m:oMath xmlns:m="http://schemas.openxmlformats.org/officeDocument/2006/math">
                    <m:r>
                      <a:rPr lang="en-GB" b="0" i="1">
                        <a:latin typeface="Cambria Math" panose="02040503050406030204" pitchFamily="18" charset="0"/>
                      </a:rPr>
                      <m:t>10^38</m:t>
                    </m:r>
                  </m:oMath>
                </a14:m>
                <a:r>
                  <a:rPr lang="en-GB" dirty="0"/>
                  <a:t> combinations) with 40% less silicon area than AES-256.</a:t>
                </a:r>
              </a:p>
              <a:p>
                <a:pPr>
                  <a:lnSpc>
                    <a:spcPct val="150000"/>
                  </a:lnSpc>
                </a:pPr>
                <a:r>
                  <a:rPr lang="en-GB" b="1" dirty="0"/>
                  <a:t>Hardware Suitability: </a:t>
                </a:r>
                <a:r>
                  <a:rPr lang="en-GB" dirty="0"/>
                  <a:t>Unlike Feistel networks (DES), AES is a Substitution-Permutation Network (SPN), allowing for massive parallelization in hardware.</a:t>
                </a:r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388831F-0867-4A07-9290-3D42B77C1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563" y="1898750"/>
                <a:ext cx="8733562" cy="3788858"/>
              </a:xfrm>
              <a:prstGeom prst="rect">
                <a:avLst/>
              </a:prstGeom>
              <a:blipFill>
                <a:blip r:embed="rId2"/>
                <a:stretch>
                  <a:fillRect l="-558" r="-698" b="-1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6C5496DE-3AC0-460B-A64D-8F201611F29F}"/>
              </a:ext>
            </a:extLst>
          </p:cNvPr>
          <p:cNvSpPr/>
          <p:nvPr/>
        </p:nvSpPr>
        <p:spPr>
          <a:xfrm>
            <a:off x="0" y="129008"/>
            <a:ext cx="9715500" cy="39752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39F4C5-7C86-40D4-BA49-2CBABE11F9B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150" b="24534"/>
          <a:stretch/>
        </p:blipFill>
        <p:spPr>
          <a:xfrm>
            <a:off x="7838385" y="4624364"/>
            <a:ext cx="4353615" cy="223363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6E4B061-B483-4480-9647-237416143B57}"/>
              </a:ext>
            </a:extLst>
          </p:cNvPr>
          <p:cNvSpPr/>
          <p:nvPr/>
        </p:nvSpPr>
        <p:spPr>
          <a:xfrm>
            <a:off x="0" y="224810"/>
            <a:ext cx="9610725" cy="30172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DC908E-D426-45D3-8043-6B448E9F7C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2249" y="1525152"/>
            <a:ext cx="4201188" cy="210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958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EDDF5FB-8EC2-46C5-8E86-82280B2E338D}"/>
              </a:ext>
            </a:extLst>
          </p:cNvPr>
          <p:cNvSpPr txBox="1"/>
          <p:nvPr/>
        </p:nvSpPr>
        <p:spPr>
          <a:xfrm>
            <a:off x="277906" y="1208099"/>
            <a:ext cx="8821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cumin Variable Concept Black" panose="020B0304020202020204" pitchFamily="34" charset="0"/>
              </a:rPr>
              <a:t>Project Goals &amp; Target Specifications</a:t>
            </a:r>
            <a:endParaRPr lang="en-US" sz="2400" dirty="0">
              <a:latin typeface="Acumin Variable Concept Black" panose="020B03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88831F-0867-4A07-9290-3D42B77C1246}"/>
              </a:ext>
            </a:extLst>
          </p:cNvPr>
          <p:cNvSpPr txBox="1"/>
          <p:nvPr/>
        </p:nvSpPr>
        <p:spPr>
          <a:xfrm>
            <a:off x="648563" y="1898750"/>
            <a:ext cx="6457087" cy="4204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Target Application: Industrial IoT (</a:t>
            </a:r>
            <a:r>
              <a:rPr lang="en-GB" b="1" dirty="0" err="1"/>
              <a:t>IIoT</a:t>
            </a:r>
            <a:r>
              <a:rPr lang="en-GB" b="1" dirty="0"/>
              <a:t>) Edge Gateways.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Key Objectives:</a:t>
            </a:r>
          </a:p>
          <a:p>
            <a:pPr>
              <a:lnSpc>
                <a:spcPct val="150000"/>
              </a:lnSpc>
            </a:pPr>
            <a:r>
              <a:rPr lang="en-GB" dirty="0"/>
              <a:t>Eliminate Bottlenecks: Offload encryption from the main CPU to dedicated silicon.</a:t>
            </a:r>
          </a:p>
          <a:p>
            <a:pPr>
              <a:lnSpc>
                <a:spcPct val="150000"/>
              </a:lnSpc>
            </a:pPr>
            <a:r>
              <a:rPr lang="en-GB" dirty="0"/>
              <a:t>Deterministic Timing: Ensure fixed latency for real-time control loops.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Technical Specifications: </a:t>
            </a:r>
          </a:p>
          <a:p>
            <a:pPr>
              <a:lnSpc>
                <a:spcPct val="150000"/>
              </a:lnSpc>
            </a:pPr>
            <a:r>
              <a:rPr lang="en-GB" dirty="0"/>
              <a:t>Throughput: &gt; 12.8 Gbps (Targeting 10GbE Aggregation).</a:t>
            </a:r>
          </a:p>
          <a:p>
            <a:pPr>
              <a:lnSpc>
                <a:spcPct val="150000"/>
              </a:lnSpc>
            </a:pPr>
            <a:r>
              <a:rPr lang="en-GB" dirty="0"/>
              <a:t>Latency: Fixed 5 Clock Cycles (50ns @ 100MHz).</a:t>
            </a:r>
          </a:p>
          <a:p>
            <a:pPr>
              <a:lnSpc>
                <a:spcPct val="150000"/>
              </a:lnSpc>
            </a:pPr>
            <a:r>
              <a:rPr lang="en-GB" dirty="0"/>
              <a:t>Clock Frequency: 100 MHz (Conservative) / 150 MHz (Aggressive).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E883C0-5318-41EB-A1E6-B4A90835FBDA}"/>
              </a:ext>
            </a:extLst>
          </p:cNvPr>
          <p:cNvSpPr/>
          <p:nvPr/>
        </p:nvSpPr>
        <p:spPr>
          <a:xfrm>
            <a:off x="0" y="129008"/>
            <a:ext cx="9715500" cy="39752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67F32C3-7479-49BE-BD99-70952D35EB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150" b="24534"/>
          <a:stretch/>
        </p:blipFill>
        <p:spPr>
          <a:xfrm>
            <a:off x="7838385" y="4624364"/>
            <a:ext cx="4353615" cy="223363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4CF6DB6-C83B-477A-B177-68A31EE993A9}"/>
              </a:ext>
            </a:extLst>
          </p:cNvPr>
          <p:cNvSpPr/>
          <p:nvPr/>
        </p:nvSpPr>
        <p:spPr>
          <a:xfrm>
            <a:off x="0" y="224810"/>
            <a:ext cx="9610725" cy="30172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F332EB-D83A-4A0E-819B-405EAD47DD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568" y="903760"/>
            <a:ext cx="4871607" cy="22550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2BA5040-527D-4576-9A6A-17066AA351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5650" y="3594407"/>
            <a:ext cx="4257675" cy="273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34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EDDF5FB-8EC2-46C5-8E86-82280B2E338D}"/>
              </a:ext>
            </a:extLst>
          </p:cNvPr>
          <p:cNvSpPr txBox="1"/>
          <p:nvPr/>
        </p:nvSpPr>
        <p:spPr>
          <a:xfrm>
            <a:off x="277906" y="1208099"/>
            <a:ext cx="8821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cumin Variable Concept Black" panose="020B0304020202020204" pitchFamily="34" charset="0"/>
              </a:rPr>
              <a:t>Project Phases</a:t>
            </a:r>
            <a:endParaRPr lang="en-US" sz="2400" dirty="0">
              <a:latin typeface="Acumin Variable Concept Black" panose="020B03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88831F-0867-4A07-9290-3D42B77C1246}"/>
              </a:ext>
            </a:extLst>
          </p:cNvPr>
          <p:cNvSpPr txBox="1"/>
          <p:nvPr/>
        </p:nvSpPr>
        <p:spPr>
          <a:xfrm>
            <a:off x="648563" y="1898750"/>
            <a:ext cx="8450614" cy="3373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en-GB" b="1" dirty="0"/>
              <a:t>Architectural Design (Completed):</a:t>
            </a:r>
            <a:r>
              <a:rPr lang="en-GB" dirty="0"/>
              <a:t> Defined the 5-stage spatial pipeline and mathematical models for S-Boxes.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en-GB" b="1" dirty="0"/>
              <a:t>RTL Implementation (Current): </a:t>
            </a:r>
            <a:r>
              <a:rPr lang="en-GB" dirty="0"/>
              <a:t>Verilog-2001 coding of the </a:t>
            </a:r>
            <a:r>
              <a:rPr lang="en-GB" dirty="0" err="1"/>
              <a:t>datapath</a:t>
            </a:r>
            <a:r>
              <a:rPr lang="en-GB" dirty="0"/>
              <a:t> and key expansion units.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en-GB" b="1" dirty="0"/>
              <a:t>Verification (In Progress): </a:t>
            </a:r>
            <a:r>
              <a:rPr lang="en-GB" dirty="0"/>
              <a:t>UVM testbench for functional correctness and corner cases.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en-GB" b="1" dirty="0"/>
              <a:t>FPGA Prototyping: </a:t>
            </a:r>
            <a:r>
              <a:rPr lang="en-GB" dirty="0"/>
              <a:t>Synthesis and timing analysis on Artix-7/Cyclone V.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arenR"/>
            </a:pPr>
            <a:r>
              <a:rPr lang="en-GB" b="1" dirty="0"/>
              <a:t>ASIC Backend: </a:t>
            </a:r>
            <a:r>
              <a:rPr lang="en-GB" dirty="0"/>
              <a:t>Synthesis, </a:t>
            </a:r>
            <a:r>
              <a:rPr lang="en-GB" dirty="0" err="1"/>
              <a:t>Floorplanning</a:t>
            </a:r>
            <a:r>
              <a:rPr lang="en-GB" dirty="0"/>
              <a:t>, and GDSII generation.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07C27C-84A8-4050-B602-2412B87AA77F}"/>
              </a:ext>
            </a:extLst>
          </p:cNvPr>
          <p:cNvSpPr/>
          <p:nvPr/>
        </p:nvSpPr>
        <p:spPr>
          <a:xfrm>
            <a:off x="0" y="129008"/>
            <a:ext cx="9715500" cy="39752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039A6B-16B9-4EFA-A843-1D32ED889CF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150" b="24534"/>
          <a:stretch/>
        </p:blipFill>
        <p:spPr>
          <a:xfrm>
            <a:off x="7838385" y="4624364"/>
            <a:ext cx="4353615" cy="223363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CACD82D-7544-49A7-A26E-73AB92823152}"/>
              </a:ext>
            </a:extLst>
          </p:cNvPr>
          <p:cNvSpPr/>
          <p:nvPr/>
        </p:nvSpPr>
        <p:spPr>
          <a:xfrm>
            <a:off x="0" y="224810"/>
            <a:ext cx="9610725" cy="30172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560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EDDF5FB-8EC2-46C5-8E86-82280B2E338D}"/>
              </a:ext>
            </a:extLst>
          </p:cNvPr>
          <p:cNvSpPr txBox="1"/>
          <p:nvPr/>
        </p:nvSpPr>
        <p:spPr>
          <a:xfrm>
            <a:off x="277906" y="1208099"/>
            <a:ext cx="8821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cumin Variable Concept Black" panose="020B0304020202020204" pitchFamily="34" charset="0"/>
              </a:rPr>
              <a:t>System Level Implementation</a:t>
            </a:r>
            <a:endParaRPr lang="en-US" sz="2400" dirty="0">
              <a:latin typeface="Acumin Variable Concept Black" panose="020B03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88831F-0867-4A07-9290-3D42B77C1246}"/>
              </a:ext>
            </a:extLst>
          </p:cNvPr>
          <p:cNvSpPr txBox="1"/>
          <p:nvPr/>
        </p:nvSpPr>
        <p:spPr>
          <a:xfrm>
            <a:off x="496140" y="1894987"/>
            <a:ext cx="4636994" cy="2542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5-Stage Unrolled Pipeline: </a:t>
            </a:r>
            <a:r>
              <a:rPr lang="en-GB" dirty="0"/>
              <a:t>Processes 2 Rounds per Clock Cycle to balance throughput vs. register overhead.</a:t>
            </a:r>
          </a:p>
          <a:p>
            <a:pPr>
              <a:lnSpc>
                <a:spcPct val="150000"/>
              </a:lnSpc>
            </a:pPr>
            <a:r>
              <a:rPr lang="en-GB" b="1" dirty="0"/>
              <a:t>Feed-Forward Architecture: </a:t>
            </a:r>
            <a:r>
              <a:rPr lang="en-GB" dirty="0"/>
              <a:t>Data flows unidirectionally, eliminating complex feedback control logic and simplifying timing closure.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710190-36AB-48C2-BF80-86611AE00D6E}"/>
              </a:ext>
            </a:extLst>
          </p:cNvPr>
          <p:cNvSpPr/>
          <p:nvPr/>
        </p:nvSpPr>
        <p:spPr>
          <a:xfrm>
            <a:off x="0" y="129008"/>
            <a:ext cx="9715500" cy="39752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E04D47-265D-40C1-ABCD-8E0BFE269BE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150" b="24534"/>
          <a:stretch/>
        </p:blipFill>
        <p:spPr>
          <a:xfrm>
            <a:off x="7838385" y="4624364"/>
            <a:ext cx="4353615" cy="223363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51382CB-4AA6-4732-8179-A3CD3B91FD2D}"/>
              </a:ext>
            </a:extLst>
          </p:cNvPr>
          <p:cNvSpPr/>
          <p:nvPr/>
        </p:nvSpPr>
        <p:spPr>
          <a:xfrm>
            <a:off x="0" y="224810"/>
            <a:ext cx="9610725" cy="30172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46BF3B-6B7E-4334-A0C1-78D23AC468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5549" y="1865813"/>
            <a:ext cx="7534270" cy="36923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8DD0ADF-3CE0-430C-AD35-C09E43670702}"/>
              </a:ext>
            </a:extLst>
          </p:cNvPr>
          <p:cNvSpPr txBox="1"/>
          <p:nvPr/>
        </p:nvSpPr>
        <p:spPr>
          <a:xfrm>
            <a:off x="7517337" y="1069599"/>
            <a:ext cx="158184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Block Diagram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BA07662-869F-45C4-B82B-E4C9105EB9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25" y="4662573"/>
            <a:ext cx="5439910" cy="192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063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EDDF5FB-8EC2-46C5-8E86-82280B2E338D}"/>
              </a:ext>
            </a:extLst>
          </p:cNvPr>
          <p:cNvSpPr txBox="1"/>
          <p:nvPr/>
        </p:nvSpPr>
        <p:spPr>
          <a:xfrm>
            <a:off x="277906" y="1208099"/>
            <a:ext cx="8821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cumin Variable Concept Black" panose="020B0304020202020204" pitchFamily="34" charset="0"/>
              </a:rPr>
              <a:t>System Level Architecture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88831F-0867-4A07-9290-3D42B77C1246}"/>
              </a:ext>
            </a:extLst>
          </p:cNvPr>
          <p:cNvSpPr txBox="1"/>
          <p:nvPr/>
        </p:nvSpPr>
        <p:spPr>
          <a:xfrm>
            <a:off x="277906" y="1922704"/>
            <a:ext cx="5579969" cy="1711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The system is divided into three functional domains: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 b="1" dirty="0"/>
              <a:t>Key Schedule Domain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 b="1" dirty="0"/>
              <a:t>Data Processing Domain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 b="1" dirty="0"/>
              <a:t>Control &amp; Synchronization (shadow Data Path)</a:t>
            </a: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710190-36AB-48C2-BF80-86611AE00D6E}"/>
              </a:ext>
            </a:extLst>
          </p:cNvPr>
          <p:cNvSpPr/>
          <p:nvPr/>
        </p:nvSpPr>
        <p:spPr>
          <a:xfrm>
            <a:off x="0" y="129008"/>
            <a:ext cx="9715500" cy="39752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E04D47-265D-40C1-ABCD-8E0BFE269BE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150" b="24534"/>
          <a:stretch/>
        </p:blipFill>
        <p:spPr>
          <a:xfrm>
            <a:off x="7838385" y="4624364"/>
            <a:ext cx="4353615" cy="223363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51382CB-4AA6-4732-8179-A3CD3B91FD2D}"/>
              </a:ext>
            </a:extLst>
          </p:cNvPr>
          <p:cNvSpPr/>
          <p:nvPr/>
        </p:nvSpPr>
        <p:spPr>
          <a:xfrm>
            <a:off x="0" y="224810"/>
            <a:ext cx="9610725" cy="30172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F206958-D3F2-4A97-B369-A6443A017C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91883"/>
            <a:ext cx="6005110" cy="6037109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73EC29C-4422-4E02-80C3-66C9EBA0DF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7661181"/>
              </p:ext>
            </p:extLst>
          </p:nvPr>
        </p:nvGraphicFramePr>
        <p:xfrm>
          <a:off x="277907" y="4086224"/>
          <a:ext cx="5818093" cy="254696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754356">
                  <a:extLst>
                    <a:ext uri="{9D8B030D-6E8A-4147-A177-3AD203B41FA5}">
                      <a16:colId xmlns:a16="http://schemas.microsoft.com/office/drawing/2014/main" val="4225840197"/>
                    </a:ext>
                  </a:extLst>
                </a:gridCol>
                <a:gridCol w="754356">
                  <a:extLst>
                    <a:ext uri="{9D8B030D-6E8A-4147-A177-3AD203B41FA5}">
                      <a16:colId xmlns:a16="http://schemas.microsoft.com/office/drawing/2014/main" val="2281140561"/>
                    </a:ext>
                  </a:extLst>
                </a:gridCol>
                <a:gridCol w="754356">
                  <a:extLst>
                    <a:ext uri="{9D8B030D-6E8A-4147-A177-3AD203B41FA5}">
                      <a16:colId xmlns:a16="http://schemas.microsoft.com/office/drawing/2014/main" val="987628843"/>
                    </a:ext>
                  </a:extLst>
                </a:gridCol>
                <a:gridCol w="754356">
                  <a:extLst>
                    <a:ext uri="{9D8B030D-6E8A-4147-A177-3AD203B41FA5}">
                      <a16:colId xmlns:a16="http://schemas.microsoft.com/office/drawing/2014/main" val="1829049706"/>
                    </a:ext>
                  </a:extLst>
                </a:gridCol>
                <a:gridCol w="754356">
                  <a:extLst>
                    <a:ext uri="{9D8B030D-6E8A-4147-A177-3AD203B41FA5}">
                      <a16:colId xmlns:a16="http://schemas.microsoft.com/office/drawing/2014/main" val="901208096"/>
                    </a:ext>
                  </a:extLst>
                </a:gridCol>
                <a:gridCol w="754356">
                  <a:extLst>
                    <a:ext uri="{9D8B030D-6E8A-4147-A177-3AD203B41FA5}">
                      <a16:colId xmlns:a16="http://schemas.microsoft.com/office/drawing/2014/main" val="2125284318"/>
                    </a:ext>
                  </a:extLst>
                </a:gridCol>
                <a:gridCol w="1291957">
                  <a:extLst>
                    <a:ext uri="{9D8B030D-6E8A-4147-A177-3AD203B41FA5}">
                      <a16:colId xmlns:a16="http://schemas.microsoft.com/office/drawing/2014/main" val="565885970"/>
                    </a:ext>
                  </a:extLst>
                </a:gridCol>
              </a:tblGrid>
              <a:tr h="61421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</a:rPr>
                        <a:t>Clock Cycle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</a:rPr>
                        <a:t>Stage 1 (R1+R2)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</a:rPr>
                        <a:t>Stage 2 (R3+R4)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</a:rPr>
                        <a:t>Stage 3 (R5+R6)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</a:rPr>
                        <a:t>Stage 4 (R7+R8)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</a:rPr>
                        <a:t>Stage 5 (R9+R10)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</a:rPr>
                        <a:t>Output Valid?</a:t>
                      </a:r>
                      <a:endParaRPr lang="en-U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80261684"/>
                  </a:ext>
                </a:extLst>
              </a:tr>
              <a:tr h="31244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</a:rPr>
                        <a:t>Cycle 1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Data A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(Empty)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(Empty)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(Empty)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(Empty)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 (Wait)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81932257"/>
                  </a:ext>
                </a:extLst>
              </a:tr>
              <a:tr h="32844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</a:rPr>
                        <a:t>Cycle 2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Data B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Data A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(Empty)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(Empty)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(Empty)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 (Wait)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32996216"/>
                  </a:ext>
                </a:extLst>
              </a:tr>
              <a:tr h="32844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</a:rPr>
                        <a:t>Cycle 3</a:t>
                      </a:r>
                      <a:endParaRPr lang="en-U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Data C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Data B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Data A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(Empty)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(Empty)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 (Wait)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34579730"/>
                  </a:ext>
                </a:extLst>
              </a:tr>
              <a:tr h="32844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</a:rPr>
                        <a:t>Cycle 4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Data 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Data C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Data B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Data A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(Empty)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0 (Wait)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76173550"/>
                  </a:ext>
                </a:extLst>
              </a:tr>
              <a:tr h="29169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effectLst/>
                        </a:rPr>
                        <a:t>Cycle 5</a:t>
                      </a:r>
                      <a:endParaRPr lang="en-US" sz="11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Data 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Data 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Data C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Data B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Data A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1 (Data A Ready!)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755607"/>
                  </a:ext>
                </a:extLst>
              </a:tr>
              <a:tr h="34327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</a:rPr>
                        <a:t>Cycle 6</a:t>
                      </a:r>
                      <a:endParaRPr lang="en-US" sz="11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Data F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Data 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Data 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Data C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Data B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1 (Data B Ready!)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46218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9084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EDDF5FB-8EC2-46C5-8E86-82280B2E338D}"/>
              </a:ext>
            </a:extLst>
          </p:cNvPr>
          <p:cNvSpPr txBox="1"/>
          <p:nvPr/>
        </p:nvSpPr>
        <p:spPr>
          <a:xfrm>
            <a:off x="277906" y="1208099"/>
            <a:ext cx="8821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cumin Variable Concept Black" panose="020B0304020202020204" pitchFamily="34" charset="0"/>
              </a:rPr>
              <a:t>System Level Architecture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710190-36AB-48C2-BF80-86611AE00D6E}"/>
              </a:ext>
            </a:extLst>
          </p:cNvPr>
          <p:cNvSpPr/>
          <p:nvPr/>
        </p:nvSpPr>
        <p:spPr>
          <a:xfrm>
            <a:off x="0" y="129008"/>
            <a:ext cx="9715500" cy="39752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E04D47-265D-40C1-ABCD-8E0BFE269BE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150" b="24534"/>
          <a:stretch/>
        </p:blipFill>
        <p:spPr>
          <a:xfrm>
            <a:off x="7838385" y="4624364"/>
            <a:ext cx="4353615" cy="223363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51382CB-4AA6-4732-8179-A3CD3B91FD2D}"/>
              </a:ext>
            </a:extLst>
          </p:cNvPr>
          <p:cNvSpPr/>
          <p:nvPr/>
        </p:nvSpPr>
        <p:spPr>
          <a:xfrm>
            <a:off x="0" y="224810"/>
            <a:ext cx="9610725" cy="30172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2FCDD2-84DB-4645-9D95-AAEEE34742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450" y="2933699"/>
            <a:ext cx="5897021" cy="312962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36898A5-63B9-4317-AFCF-41789FF9D4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06" y="2933698"/>
            <a:ext cx="5743694" cy="3129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113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2831AC2-F812-45DD-A12D-58516DC348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140"/>
          <a:stretch/>
        </p:blipFill>
        <p:spPr>
          <a:xfrm>
            <a:off x="3771060" y="2813991"/>
            <a:ext cx="4448175" cy="381919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F630241-1A8A-40FB-A340-7CC9C5593F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7792" y="795338"/>
            <a:ext cx="4114800" cy="4114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DDF5FB-8EC2-46C5-8E86-82280B2E338D}"/>
              </a:ext>
            </a:extLst>
          </p:cNvPr>
          <p:cNvSpPr txBox="1"/>
          <p:nvPr/>
        </p:nvSpPr>
        <p:spPr>
          <a:xfrm>
            <a:off x="277907" y="1208099"/>
            <a:ext cx="4922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cumin Variable Concept Black" panose="020B0304020202020204" pitchFamily="34" charset="0"/>
              </a:rPr>
              <a:t>FPGA &amp; Demo Implementation</a:t>
            </a:r>
            <a:endParaRPr lang="en-US" sz="2400" dirty="0">
              <a:latin typeface="Acumin Variable Concept Black" panose="020B03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88831F-0867-4A07-9290-3D42B77C1246}"/>
              </a:ext>
            </a:extLst>
          </p:cNvPr>
          <p:cNvSpPr txBox="1"/>
          <p:nvPr/>
        </p:nvSpPr>
        <p:spPr>
          <a:xfrm>
            <a:off x="534953" y="1925645"/>
            <a:ext cx="3932272" cy="2542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Hardware Platforms &amp; Rationale:</a:t>
            </a:r>
          </a:p>
          <a:p>
            <a:pPr>
              <a:lnSpc>
                <a:spcPct val="150000"/>
              </a:lnSpc>
            </a:pPr>
            <a:r>
              <a:rPr lang="en-GB" b="1" dirty="0"/>
              <a:t>AMD </a:t>
            </a:r>
            <a:r>
              <a:rPr lang="en-GB" b="1" dirty="0" err="1"/>
              <a:t>Kria</a:t>
            </a:r>
            <a:r>
              <a:rPr lang="en-GB" b="1" dirty="0"/>
              <a:t> KV260 (Vision AI Starter Kit).</a:t>
            </a:r>
          </a:p>
          <a:p>
            <a:pPr>
              <a:lnSpc>
                <a:spcPct val="150000"/>
              </a:lnSpc>
            </a:pPr>
            <a:r>
              <a:rPr lang="en-GB" dirty="0"/>
              <a:t>Architecture: Zynq </a:t>
            </a:r>
            <a:r>
              <a:rPr lang="en-GB" dirty="0" err="1"/>
              <a:t>UltraScale</a:t>
            </a:r>
            <a:r>
              <a:rPr lang="en-GB" dirty="0"/>
              <a:t>+ </a:t>
            </a:r>
            <a:r>
              <a:rPr lang="en-GB" dirty="0" err="1"/>
              <a:t>MPSoC</a:t>
            </a:r>
            <a:r>
              <a:rPr lang="en-GB" dirty="0"/>
              <a:t> (ARM Cortex-A53 + FPGA Fabric).</a:t>
            </a:r>
          </a:p>
          <a:p>
            <a:pPr>
              <a:lnSpc>
                <a:spcPct val="150000"/>
              </a:lnSpc>
            </a:pPr>
            <a:r>
              <a:rPr lang="en-GB" b="1" dirty="0" err="1"/>
              <a:t>Nexys</a:t>
            </a:r>
            <a:r>
              <a:rPr lang="en-GB" b="1" dirty="0"/>
              <a:t> A7 (Artix-7 XC7A100T):</a:t>
            </a:r>
          </a:p>
          <a:p>
            <a:pPr>
              <a:lnSpc>
                <a:spcPct val="150000"/>
              </a:lnSpc>
            </a:pPr>
            <a:r>
              <a:rPr lang="en-GB" dirty="0"/>
              <a:t>Architecture: Pure FPGA fabric (28nm).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2B49FC-8B7C-4C3D-B615-A7D913EA207F}"/>
              </a:ext>
            </a:extLst>
          </p:cNvPr>
          <p:cNvSpPr/>
          <p:nvPr/>
        </p:nvSpPr>
        <p:spPr>
          <a:xfrm>
            <a:off x="0" y="129008"/>
            <a:ext cx="9715500" cy="39752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18AB06-2729-4FF5-985B-7C6F77216EA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150" b="24534"/>
          <a:stretch/>
        </p:blipFill>
        <p:spPr>
          <a:xfrm>
            <a:off x="7838385" y="4624364"/>
            <a:ext cx="4353615" cy="223363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A2D1601-5331-4925-9DED-34C455E41CFB}"/>
              </a:ext>
            </a:extLst>
          </p:cNvPr>
          <p:cNvSpPr/>
          <p:nvPr/>
        </p:nvSpPr>
        <p:spPr>
          <a:xfrm>
            <a:off x="0" y="224810"/>
            <a:ext cx="9610725" cy="30172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44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EDDF5FB-8EC2-46C5-8E86-82280B2E338D}"/>
              </a:ext>
            </a:extLst>
          </p:cNvPr>
          <p:cNvSpPr txBox="1"/>
          <p:nvPr/>
        </p:nvSpPr>
        <p:spPr>
          <a:xfrm>
            <a:off x="277906" y="1208099"/>
            <a:ext cx="8821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cumin Variable Concept Black" panose="020B0304020202020204" pitchFamily="34" charset="0"/>
              </a:rPr>
              <a:t>Verification Strategy (UVM &amp; SCA)</a:t>
            </a:r>
            <a:endParaRPr lang="en-US" sz="2400" dirty="0">
              <a:latin typeface="Acumin Variable Concept Black" panose="020B03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88831F-0867-4A07-9290-3D42B77C1246}"/>
              </a:ext>
            </a:extLst>
          </p:cNvPr>
          <p:cNvSpPr txBox="1"/>
          <p:nvPr/>
        </p:nvSpPr>
        <p:spPr>
          <a:xfrm>
            <a:off x="648563" y="1898750"/>
            <a:ext cx="8450614" cy="2957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Functional Verification (UVM):</a:t>
            </a:r>
          </a:p>
          <a:p>
            <a:pPr>
              <a:lnSpc>
                <a:spcPct val="150000"/>
              </a:lnSpc>
            </a:pPr>
            <a:r>
              <a:rPr lang="en-GB" dirty="0"/>
              <a:t>Driver: Saturates the pipeline with back-to-back transactions (100% utilization).</a:t>
            </a:r>
          </a:p>
          <a:p>
            <a:pPr>
              <a:lnSpc>
                <a:spcPct val="150000"/>
              </a:lnSpc>
            </a:pPr>
            <a:r>
              <a:rPr lang="en-GB" dirty="0"/>
              <a:t>Scoreboard: Bit-exact comparison against a C-Model Golden Reference.</a:t>
            </a:r>
          </a:p>
          <a:p>
            <a:pPr>
              <a:lnSpc>
                <a:spcPct val="150000"/>
              </a:lnSpc>
            </a:pPr>
            <a:endParaRPr lang="en-GB" dirty="0"/>
          </a:p>
          <a:p>
            <a:pPr>
              <a:lnSpc>
                <a:spcPct val="150000"/>
              </a:lnSpc>
            </a:pPr>
            <a:endParaRPr lang="en-GB" dirty="0"/>
          </a:p>
          <a:p>
            <a:pPr>
              <a:lnSpc>
                <a:spcPct val="150000"/>
              </a:lnSpc>
            </a:pPr>
            <a:r>
              <a:rPr lang="en-GB" b="1" dirty="0"/>
              <a:t>Security Verification (Side-Channel Analysis):</a:t>
            </a:r>
          </a:p>
          <a:p>
            <a:pPr>
              <a:lnSpc>
                <a:spcPct val="150000"/>
              </a:lnSpc>
            </a:pPr>
            <a:r>
              <a:rPr lang="en-GB" dirty="0"/>
              <a:t>Goal: Verify resistance to Power Analysis Attacks (DPA/CPA).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471217-FCAC-4320-97EB-000C367F5D21}"/>
              </a:ext>
            </a:extLst>
          </p:cNvPr>
          <p:cNvSpPr/>
          <p:nvPr/>
        </p:nvSpPr>
        <p:spPr>
          <a:xfrm>
            <a:off x="0" y="129008"/>
            <a:ext cx="9715500" cy="39752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0556CB-EDE1-4510-857B-35B65341B06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150" b="24534"/>
          <a:stretch/>
        </p:blipFill>
        <p:spPr>
          <a:xfrm>
            <a:off x="7838385" y="4624364"/>
            <a:ext cx="4353615" cy="223363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E343534-47C5-40E7-BD75-207439ACC62A}"/>
              </a:ext>
            </a:extLst>
          </p:cNvPr>
          <p:cNvSpPr/>
          <p:nvPr/>
        </p:nvSpPr>
        <p:spPr>
          <a:xfrm>
            <a:off x="0" y="224810"/>
            <a:ext cx="9610725" cy="30172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879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EDDF5FB-8EC2-46C5-8E86-82280B2E338D}"/>
              </a:ext>
            </a:extLst>
          </p:cNvPr>
          <p:cNvSpPr txBox="1"/>
          <p:nvPr/>
        </p:nvSpPr>
        <p:spPr>
          <a:xfrm>
            <a:off x="277906" y="1208099"/>
            <a:ext cx="8821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cumin Variable Concept Black" panose="020B0304020202020204" pitchFamily="34" charset="0"/>
              </a:rPr>
              <a:t>ASIC Flow </a:t>
            </a:r>
            <a:endParaRPr lang="en-US" sz="2400" dirty="0">
              <a:latin typeface="Acumin Variable Concept Black" panose="020B03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88831F-0867-4A07-9290-3D42B77C1246}"/>
              </a:ext>
            </a:extLst>
          </p:cNvPr>
          <p:cNvSpPr txBox="1"/>
          <p:nvPr/>
        </p:nvSpPr>
        <p:spPr>
          <a:xfrm>
            <a:off x="648563" y="1898750"/>
            <a:ext cx="8450614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From RTL to GDSII.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337F3D-A8CB-4F1E-A5EA-CA43D09D1904}"/>
              </a:ext>
            </a:extLst>
          </p:cNvPr>
          <p:cNvSpPr/>
          <p:nvPr/>
        </p:nvSpPr>
        <p:spPr>
          <a:xfrm>
            <a:off x="0" y="129008"/>
            <a:ext cx="9715500" cy="39752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F3A05B-69D6-4C7E-8AA2-0ECBE185D8C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150" b="24534"/>
          <a:stretch/>
        </p:blipFill>
        <p:spPr>
          <a:xfrm>
            <a:off x="7838385" y="4624364"/>
            <a:ext cx="4353615" cy="223363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222449F-9AE4-4D18-A851-B334EE08A958}"/>
              </a:ext>
            </a:extLst>
          </p:cNvPr>
          <p:cNvSpPr/>
          <p:nvPr/>
        </p:nvSpPr>
        <p:spPr>
          <a:xfrm>
            <a:off x="0" y="224810"/>
            <a:ext cx="9610725" cy="30172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553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EDDF5FB-8EC2-46C5-8E86-82280B2E338D}"/>
              </a:ext>
            </a:extLst>
          </p:cNvPr>
          <p:cNvSpPr txBox="1"/>
          <p:nvPr/>
        </p:nvSpPr>
        <p:spPr>
          <a:xfrm>
            <a:off x="277906" y="1208099"/>
            <a:ext cx="8821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cumin Variable Concept Black" panose="020B0304020202020204" pitchFamily="34" charset="0"/>
              </a:rPr>
              <a:t>Conclusion</a:t>
            </a:r>
            <a:endParaRPr lang="en-US" sz="2400" dirty="0">
              <a:latin typeface="Acumin Variable Concept Black" panose="020B03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88831F-0867-4A07-9290-3D42B77C1246}"/>
              </a:ext>
            </a:extLst>
          </p:cNvPr>
          <p:cNvSpPr txBox="1"/>
          <p:nvPr/>
        </p:nvSpPr>
        <p:spPr>
          <a:xfrm>
            <a:off x="648563" y="1898750"/>
            <a:ext cx="8450614" cy="2126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Summary: </a:t>
            </a:r>
            <a:r>
              <a:rPr lang="en-GB" dirty="0"/>
              <a:t>We are developing a high-performance AES core that addresses the specific speed and security needs of the Industrial IoT.</a:t>
            </a:r>
          </a:p>
          <a:p>
            <a:pPr>
              <a:lnSpc>
                <a:spcPct val="150000"/>
              </a:lnSpc>
            </a:pPr>
            <a:r>
              <a:rPr lang="en-GB" b="1" dirty="0"/>
              <a:t>Key Advantage</a:t>
            </a:r>
            <a:r>
              <a:rPr lang="en-GB" dirty="0"/>
              <a:t>: By moving from memory-based to logic-based arithmetic, we optimize for the physical realities of modern silicon—reducing area.</a:t>
            </a:r>
          </a:p>
          <a:p>
            <a:pPr>
              <a:lnSpc>
                <a:spcPct val="150000"/>
              </a:lnSpc>
            </a:pPr>
            <a:r>
              <a:rPr lang="en-GB" b="1" dirty="0"/>
              <a:t>Next Steps: </a:t>
            </a:r>
            <a:r>
              <a:rPr lang="en-GB" dirty="0"/>
              <a:t>Proceeding to FPGA synthesis and preparing the netlist for physical design.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8895B9-6526-467C-8D71-245F97AFF025}"/>
              </a:ext>
            </a:extLst>
          </p:cNvPr>
          <p:cNvSpPr/>
          <p:nvPr/>
        </p:nvSpPr>
        <p:spPr>
          <a:xfrm>
            <a:off x="0" y="129008"/>
            <a:ext cx="9715500" cy="39752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D42B608-65B6-4CD1-A0C1-260CF98F893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150" b="24534"/>
          <a:stretch/>
        </p:blipFill>
        <p:spPr>
          <a:xfrm>
            <a:off x="7838385" y="4624364"/>
            <a:ext cx="4353615" cy="223363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4BC485-EED5-49C7-A7B9-135433F940C1}"/>
              </a:ext>
            </a:extLst>
          </p:cNvPr>
          <p:cNvSpPr/>
          <p:nvPr/>
        </p:nvSpPr>
        <p:spPr>
          <a:xfrm>
            <a:off x="0" y="224810"/>
            <a:ext cx="9610725" cy="30172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501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EDDF5FB-8EC2-46C5-8E86-82280B2E338D}"/>
              </a:ext>
            </a:extLst>
          </p:cNvPr>
          <p:cNvSpPr txBox="1"/>
          <p:nvPr/>
        </p:nvSpPr>
        <p:spPr>
          <a:xfrm>
            <a:off x="277906" y="1208099"/>
            <a:ext cx="88212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Acumin Variable Concept Black" panose="020B0304020202020204" pitchFamily="34" charset="0"/>
              </a:rPr>
              <a:t>Mentorship Request</a:t>
            </a:r>
            <a:endParaRPr lang="en-US" sz="2400" dirty="0">
              <a:latin typeface="Acumin Variable Concept Black" panose="020B03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88831F-0867-4A07-9290-3D42B77C1246}"/>
              </a:ext>
            </a:extLst>
          </p:cNvPr>
          <p:cNvSpPr txBox="1"/>
          <p:nvPr/>
        </p:nvSpPr>
        <p:spPr>
          <a:xfrm>
            <a:off x="648563" y="1898750"/>
            <a:ext cx="8450614" cy="2542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 b="1" dirty="0"/>
              <a:t>Analog/Mixed-Signal Insight: </a:t>
            </a:r>
            <a:r>
              <a:rPr lang="en-GB" dirty="0"/>
              <a:t>Advice on Power Grid Integrity and decoupling capacitor placement to handle switching noise.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 b="1" dirty="0"/>
              <a:t>Guidance on setting up a Power Simulation Testbench to validate our Side-Channel security claims.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 b="1" dirty="0"/>
              <a:t>Design Review: Critical feedback on our pipeline depth and logic optimization strategies.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462500-F4BA-4E7B-8FFF-E417A7389F6C}"/>
              </a:ext>
            </a:extLst>
          </p:cNvPr>
          <p:cNvSpPr/>
          <p:nvPr/>
        </p:nvSpPr>
        <p:spPr>
          <a:xfrm>
            <a:off x="0" y="129008"/>
            <a:ext cx="9715500" cy="39752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4473A6-1CB3-4750-AD2F-56B6EACD9B5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150" b="24534"/>
          <a:stretch/>
        </p:blipFill>
        <p:spPr>
          <a:xfrm>
            <a:off x="7838385" y="4624364"/>
            <a:ext cx="4353615" cy="223363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800952C-E1C4-4E82-9F4C-517AB1B2CF11}"/>
              </a:ext>
            </a:extLst>
          </p:cNvPr>
          <p:cNvSpPr/>
          <p:nvPr/>
        </p:nvSpPr>
        <p:spPr>
          <a:xfrm>
            <a:off x="0" y="224810"/>
            <a:ext cx="9610725" cy="30172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233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837</Words>
  <Application>Microsoft Office PowerPoint</Application>
  <PresentationFormat>Widescreen</PresentationFormat>
  <Paragraphs>128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Acumin Variable Concept Black</vt:lpstr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Omar Atef</dc:creator>
  <cp:lastModifiedBy>Omar Atef</cp:lastModifiedBy>
  <cp:revision>12</cp:revision>
  <dcterms:created xsi:type="dcterms:W3CDTF">2026-02-11T19:35:28Z</dcterms:created>
  <dcterms:modified xsi:type="dcterms:W3CDTF">2026-02-11T21:49:52Z</dcterms:modified>
</cp:coreProperties>
</file>